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0" r:id="rId5"/>
    <p:sldId id="256" r:id="rId6"/>
    <p:sldId id="257" r:id="rId7"/>
    <p:sldId id="258" r:id="rId8"/>
    <p:sldId id="259" r:id="rId9"/>
    <p:sldId id="270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64" r:id="rId18"/>
  </p:sldIdLst>
  <p:sldSz cx="12192000" cy="6858000"/>
  <p:notesSz cx="7010400" cy="92964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71" d="100"/>
          <a:sy n="171" d="100"/>
        </p:scale>
        <p:origin x="32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2BEC-96D7-389B-EEBC-FF65AC8A4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C06F9-1ACC-FA78-63DC-714A09F1C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9FB19-8A5C-CE52-C55C-B5D9A6F4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EEA27-6CD4-2C8E-37E7-C65393E8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4328F-18DC-A767-9849-F7CD432A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93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DD9-8D2D-D961-8C8E-0854BB902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CB54E-2438-71EA-3321-C1425F9C8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E18F6-74F1-E7C9-F7A0-ABE28078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27973-B987-B3A9-8ED0-C670031A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6C089-6C84-0ADA-78A0-42882EA6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0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B9F0A-D6E7-CB77-AD61-19412011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60E70-6A9C-5066-D377-D4DD4710B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5EBE4-A79D-FA70-2FEA-00253CD3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3D04B-4909-1DAC-30DB-E6F94F10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58E22-95F6-7D12-D525-DB9AE986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22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1A27-5DC5-9A69-3263-2A57143E0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44D99-A6C1-7233-2D88-973CFD5EF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16E57-2C21-2A95-0CAB-3A415393F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3A768-8A92-F3E4-B7F3-9DEC50C02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12F01-2032-02CF-04EE-9578CF14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A4AB4-9BC4-7106-FE65-75353020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53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8A53-3B60-3917-64CE-8E145E6A6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C23F8-B8BD-6E3F-4203-1E672EF8A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F6BB0-3A57-A0A8-D66A-E229FCD28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A2CDB-6762-3FC5-7AC5-013E505D7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FC1C8A-C813-7942-CB9A-F64545DC6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E88DB-2C70-5CDB-3459-249AE208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B3D70-B2A5-7767-5763-249EC66E2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F3EE6A-740C-E339-7E4D-B2154946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3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1301-316D-AE4F-2B4C-FB6DDCB8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D38BF-ACAF-5F44-3923-A3B7DC8B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360AF-2A83-E193-3388-67A86309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0F4CF-3ADC-79F1-18E3-0A8F4536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47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352068-A131-8DD3-764C-2636D31F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04D7D7-652D-36C8-9F70-6C938FD4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31BBE-FCDF-9C79-9DDE-39593198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8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0FF5-ACAD-C348-6D6A-CD69FCCAB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F7E83-AC1F-4D48-39E6-D56614F74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4F0EA-245E-A990-3329-2D3E946A3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68C41-5EE0-6C0E-32D9-912B2B817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48931-1D15-6FD5-4427-F65366BD8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F3331-F7ED-A6EC-3E15-950DD30C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A595-D115-1FF9-425D-FE39F1F40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F587F-1443-EA69-07EF-B83C32B3B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C9F8E-B8C7-A8D0-0ABD-59AA952EF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F0E4D-A4A6-F535-73B4-4421B174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D4B7C-8BB8-2CD1-5574-6DC62F49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9A40D-36D6-E072-A973-75CA275D5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4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CF47-7FE7-A00A-8DD7-850C342C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02BB2-87B2-4F10-4176-983E30938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739E2-1F81-4925-3F6E-C3462CFD0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82D88-5867-3397-514F-C1D08A2C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8E919-ECA0-CE84-4C08-7BED42DA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3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1BA57-41D5-BCA0-3C9A-10BEA8B22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DF15D-0936-1250-EB96-11F5ADD6A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6B639-2CD7-FEDD-402F-676E0953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168B5-824C-F90E-0B93-5ED4C377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8C65C-5415-5D02-B507-899C0960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8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F17C3AD-2B68-FB6E-4DDA-A289F49B4E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0825352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73" imgH="473" progId="TCLayout.ActiveDocument.1">
                  <p:embed/>
                </p:oleObj>
              </mc:Choice>
              <mc:Fallback>
                <p:oleObj name="think-cell Slide" r:id="rId14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7C3AD-2B68-FB6E-4DDA-A289F49B4E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424D1F-008F-BE8C-4845-1BEEEDF1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9733D-BD82-07A7-5F8D-49ED11251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BCA0B-D47D-38AC-7CB1-5B9549E3C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640F9-1765-436C-8B39-5DBE84FFFF8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176A4-7C59-EAB4-D243-FB46CD119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47036-4BB0-5108-244A-FC096F546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1F8BB-52C5-4EAB-B765-A05BF7120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62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9" Type="http://schemas.openxmlformats.org/officeDocument/2006/relationships/slide" Target="slide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45db630c-4c1c-456e-992a-d213f7789cf7/reports/c6529bae-c082-4270-b5fe-95b4f2298fae?experience=power-bi" TargetMode="External"/><Relationship Id="rId2" Type="http://schemas.openxmlformats.org/officeDocument/2006/relationships/hyperlink" Target="https://app.powerbi.com/groups/45db630c-4c1c-456e-992a-d213f7789cf7/reports/25987afa-78ee-4b6f-8d17-e9ee9d5dce53?experience=power-bi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app.powerbi.com/groups/45db630c-4c1c-456e-992a-d213f7789cf7/dashboards/56b9a2a1-4fd2-4800-baf4-f65328806c1a?experience=power-bi" TargetMode="External"/><Relationship Id="rId4" Type="http://schemas.openxmlformats.org/officeDocument/2006/relationships/hyperlink" Target="https://app.powerbi.com/groups/45db630c-4c1c-456e-992a-d213f7789cf7/dashboards/ba74ca73-ba5b-4902-98ea-3cb788c6617c?experience=power-bi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45db630c-4c1c-456e-992a-d213f7789cf7/reports/c6529bae-c082-4270-b5fe-95b4f2298fae/ReportSection10e5773e06a15e84546a?experience=power-bi" TargetMode="External"/><Relationship Id="rId7" Type="http://schemas.openxmlformats.org/officeDocument/2006/relationships/hyperlink" Target="https://app.powerbi.com/groups/45db630c-4c1c-456e-992a-d213f7789cf7/reports/c6529bae-c082-4270-b5fe-95b4f2298fae/ReportSectionc72cf85fd3d1e7e24ed7?experience=power-bi" TargetMode="External"/><Relationship Id="rId2" Type="http://schemas.openxmlformats.org/officeDocument/2006/relationships/hyperlink" Target="https://app.powerbi.com/groups/45db630c-4c1c-456e-992a-d213f7789cf7/reports/c6529bae-c082-4270-b5fe-95b4f2298fae/ReportSection6d439685a98d76a11159?experience=power-b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p.powerbi.com/groups/45db630c-4c1c-456e-992a-d213f7789cf7/reports/c6529bae-c082-4270-b5fe-95b4f2298fae/ReportSectionc5d39fd36416ea625aa2?experience=power-bi" TargetMode="External"/><Relationship Id="rId5" Type="http://schemas.openxmlformats.org/officeDocument/2006/relationships/hyperlink" Target="https://app.powerbi.com/groups/45db630c-4c1c-456e-992a-d213f7789cf7/reports/c6529bae-c082-4270-b5fe-95b4f2298fae/ReportSection40c025931421619c1d1c?experience=power-bi" TargetMode="External"/><Relationship Id="rId4" Type="http://schemas.openxmlformats.org/officeDocument/2006/relationships/hyperlink" Target="https://app.powerbi.com/groups/45db630c-4c1c-456e-992a-d213f7789cf7/reports/c6529bae-c082-4270-b5fe-95b4f2298fae/ReportSection?experience=power-bi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45db630c-4c1c-456e-992a-d213f7789cf7/reports/25987afa-78ee-4b6f-8d17-e9ee9d5dce53/ReportSectiond06f6fb3eb8f2ba027e9?experience=power-bi" TargetMode="External"/><Relationship Id="rId2" Type="http://schemas.openxmlformats.org/officeDocument/2006/relationships/hyperlink" Target="https://app.powerbi.com/groups/45db630c-4c1c-456e-992a-d213f7789cf7/reports/25987afa-78ee-4b6f-8d17-e9ee9d5dce53/ReportSection?experience=power-b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pp.powerbi.com/groups/45db630c-4c1c-456e-992a-d213f7789cf7/reports/25987afa-78ee-4b6f-8d17-e9ee9d5dce53/ReportSection23573fc625d1c65d54e0?experience=power-bi" TargetMode="External"/><Relationship Id="rId4" Type="http://schemas.openxmlformats.org/officeDocument/2006/relationships/hyperlink" Target="https://app.powerbi.com/groups/45db630c-4c1c-456e-992a-d213f7789cf7/reports/25987afa-78ee-4b6f-8d17-e9ee9d5dce53/ReportSection82af898269fc77891713?experience=power-bi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hyperlink" Target="https://app.powerbi.com/groups/45db630c-4c1c-456e-992a-d213f7789cf7/reports/25987afa-78ee-4b6f-8d17-e9ee9d5dce53/ReportSection96ce970bf42166ec63f0?experience=power-bi" TargetMode="Externa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45db630c-4c1c-456e-992a-d213f7789cf7/reports/25987afa-78ee-4b6f-8d17-e9ee9d5dce53/ReportSectionc4e6edf12ece2a3a8917?experience=power-bi" TargetMode="External"/><Relationship Id="rId2" Type="http://schemas.openxmlformats.org/officeDocument/2006/relationships/hyperlink" Target="https://app.powerbi.com/groups/45db630c-4c1c-456e-992a-d213f7789cf7/reports/25987afa-78ee-4b6f-8d17-e9ee9d5dce53/ReportSectiond2269aa845839d851b47?experience=power-bi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pp.powerbi.com/groups/45db630c-4c1c-456e-992a-d213f7789cf7/reports/25987afa-78ee-4b6f-8d17-e9ee9d5dce53/ReportSection1fa2c7c8f1429cd39149?experience=power-b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pp.powerbi.com/groups/45db630c-4c1c-456e-992a-d213f7789cf7/reports/25987afa-78ee-4b6f-8d17-e9ee9d5dce53/ReportSection423fff3572425e2260df?experience=power-bi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45db630c-4c1c-456e-992a-d213f7789cf7/reports/25987afa-78ee-4b6f-8d17-e9ee9d5dce53/ReportSectiond2269aa845839d851b47?experience=power-bi" TargetMode="External"/><Relationship Id="rId2" Type="http://schemas.openxmlformats.org/officeDocument/2006/relationships/hyperlink" Target="https://app.powerbi.com/groups/45db630c-4c1c-456e-992a-d213f7789cf7/reports/25987afa-78ee-4b6f-8d17-e9ee9d5dce53/ReportSection96ce970bf42166ec63f0?experience=power-b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p.powerbi.com/groups/45db630c-4c1c-456e-992a-d213f7789cf7/reports/25987afa-78ee-4b6f-8d17-e9ee9d5dce53/ReportSection423fff3572425e2260df?experience=power-bi" TargetMode="External"/><Relationship Id="rId5" Type="http://schemas.openxmlformats.org/officeDocument/2006/relationships/hyperlink" Target="https://app.powerbi.com/groups/45db630c-4c1c-456e-992a-d213f7789cf7/reports/25987afa-78ee-4b6f-8d17-e9ee9d5dce53/ReportSection1fa2c7c8f1429cd39149?experience=power-bi" TargetMode="External"/><Relationship Id="rId4" Type="http://schemas.openxmlformats.org/officeDocument/2006/relationships/hyperlink" Target="https://app.powerbi.com/groups/45db630c-4c1c-456e-992a-d213f7789cf7/reports/25987afa-78ee-4b6f-8d17-e9ee9d5dce53/ReportSectionc4e6edf12ece2a3a8917?experience=power-bi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BROWNC58@nationwide.com?subject=Questions/Issues%20with%20SCM%20Power%20Bi%20Site" TargetMode="External"/><Relationship Id="rId2" Type="http://schemas.openxmlformats.org/officeDocument/2006/relationships/hyperlink" Target="mailto:fullee4@nationwide.com?subject=Questions/Issues%20with%20SCM%20Power%20BI%20Sit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4AD8-255C-3F9A-5F8E-3470F70C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CBBAE-B895-E371-E070-303EA75D1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 action="ppaction://hlinksldjump"/>
              </a:rPr>
              <a:t>Save a filtered Report</a:t>
            </a:r>
            <a:r>
              <a:rPr lang="en-US"/>
              <a:t>					Slide 2</a:t>
            </a:r>
          </a:p>
          <a:p>
            <a:r>
              <a:rPr lang="en-US">
                <a:hlinkClick r:id="rId3" action="ppaction://hlinksldjump"/>
              </a:rPr>
              <a:t>Share a Bookmark</a:t>
            </a:r>
            <a:r>
              <a:rPr lang="en-US"/>
              <a:t>					Slide 3</a:t>
            </a:r>
          </a:p>
          <a:p>
            <a:r>
              <a:rPr lang="en-US">
                <a:hlinkClick r:id="rId4" action="ppaction://hlinksldjump"/>
              </a:rPr>
              <a:t>Download Raw data </a:t>
            </a:r>
            <a:r>
              <a:rPr lang="en-US"/>
              <a:t>					Slide 4</a:t>
            </a:r>
          </a:p>
          <a:p>
            <a:r>
              <a:rPr lang="en-US">
                <a:hlinkClick r:id="rId5" action="ppaction://hlinksldjump"/>
              </a:rPr>
              <a:t>Show Search Feature	</a:t>
            </a:r>
            <a:r>
              <a:rPr lang="en-US"/>
              <a:t>				Slide 5</a:t>
            </a:r>
          </a:p>
          <a:p>
            <a:r>
              <a:rPr lang="en-US">
                <a:hlinkClick r:id="rId6" action="ppaction://hlinksldjump"/>
              </a:rPr>
              <a:t>Links and Sources</a:t>
            </a:r>
            <a:r>
              <a:rPr lang="en-US"/>
              <a:t>					Slide 6</a:t>
            </a:r>
          </a:p>
          <a:p>
            <a:r>
              <a:rPr lang="en-US">
                <a:hlinkClick r:id="rId7" action="ppaction://hlinksldjump"/>
              </a:rPr>
              <a:t>SCM Weekly Tab Description</a:t>
            </a:r>
            <a:r>
              <a:rPr lang="en-US"/>
              <a:t>				Slide 7</a:t>
            </a:r>
          </a:p>
          <a:p>
            <a:r>
              <a:rPr lang="en-US">
                <a:hlinkClick r:id="rId8" action="ppaction://hlinksldjump"/>
              </a:rPr>
              <a:t>SCM YTD Tab Description</a:t>
            </a:r>
            <a:r>
              <a:rPr lang="en-US"/>
              <a:t>				Slide 8</a:t>
            </a:r>
          </a:p>
          <a:p>
            <a:r>
              <a:rPr lang="en-US">
                <a:hlinkClick r:id="rId9" action="ppaction://hlinksldjump"/>
              </a:rPr>
              <a:t>Contact Us	</a:t>
            </a:r>
            <a:r>
              <a:rPr lang="en-US"/>
              <a:t>						Slide 10</a:t>
            </a:r>
          </a:p>
        </p:txBody>
      </p:sp>
    </p:spTree>
    <p:extLst>
      <p:ext uri="{BB962C8B-B14F-4D97-AF65-F5344CB8AC3E}">
        <p14:creationId xmlns:p14="http://schemas.microsoft.com/office/powerpoint/2010/main" val="3734655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C67548-E1C7-7510-0E8C-91260C5E5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12" y="1068900"/>
            <a:ext cx="11314614" cy="54518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259112-AFED-42E0-94BD-C5F4E298D238}"/>
              </a:ext>
            </a:extLst>
          </p:cNvPr>
          <p:cNvSpPr txBox="1"/>
          <p:nvPr/>
        </p:nvSpPr>
        <p:spPr>
          <a:xfrm>
            <a:off x="251739" y="258143"/>
            <a:ext cx="11404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Power BI – Save a filtered View (Report/Visual)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A36D3FD1-697E-E8CA-9BA7-82BE37CF5BD5}"/>
              </a:ext>
            </a:extLst>
          </p:cNvPr>
          <p:cNvSpPr/>
          <p:nvPr/>
        </p:nvSpPr>
        <p:spPr>
          <a:xfrm>
            <a:off x="783772" y="3089738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509AB483-2CD0-BB54-2B33-E8978BFDBF30}"/>
              </a:ext>
            </a:extLst>
          </p:cNvPr>
          <p:cNvSpPr/>
          <p:nvPr/>
        </p:nvSpPr>
        <p:spPr>
          <a:xfrm>
            <a:off x="8839201" y="1258389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3E310AC-4710-4ED8-2301-CCBEBA29995B}"/>
              </a:ext>
            </a:extLst>
          </p:cNvPr>
          <p:cNvSpPr/>
          <p:nvPr/>
        </p:nvSpPr>
        <p:spPr>
          <a:xfrm>
            <a:off x="7985761" y="2573385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C8F48CF-C4AF-1FF5-2077-FBC91F9356B4}"/>
              </a:ext>
            </a:extLst>
          </p:cNvPr>
          <p:cNvSpPr/>
          <p:nvPr/>
        </p:nvSpPr>
        <p:spPr>
          <a:xfrm>
            <a:off x="8290737" y="3492141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FDC2745B-2B70-5304-EEAC-0C17457EE5EE}"/>
              </a:ext>
            </a:extLst>
          </p:cNvPr>
          <p:cNvSpPr/>
          <p:nvPr/>
        </p:nvSpPr>
        <p:spPr>
          <a:xfrm>
            <a:off x="9039498" y="4502335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6396DE1C-3FE1-9893-A8FA-6F4B3A8C4BE9}"/>
              </a:ext>
            </a:extLst>
          </p:cNvPr>
          <p:cNvSpPr/>
          <p:nvPr/>
        </p:nvSpPr>
        <p:spPr>
          <a:xfrm>
            <a:off x="8290737" y="5562230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2204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4634D-ACAB-5112-5950-90AA35851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96" y="822415"/>
            <a:ext cx="10840007" cy="58453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5868EC-175A-8259-F783-5F2C9E76CE4B}"/>
              </a:ext>
            </a:extLst>
          </p:cNvPr>
          <p:cNvSpPr txBox="1"/>
          <p:nvPr/>
        </p:nvSpPr>
        <p:spPr>
          <a:xfrm>
            <a:off x="675996" y="155408"/>
            <a:ext cx="11404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Power BI – Share Bookmark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68C23DE5-D711-8C17-3D7E-6B8A51228F4B}"/>
              </a:ext>
            </a:extLst>
          </p:cNvPr>
          <p:cNvSpPr/>
          <p:nvPr/>
        </p:nvSpPr>
        <p:spPr>
          <a:xfrm>
            <a:off x="1994263" y="2699657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EDBCEE2F-A868-EA1D-A215-F21512158285}"/>
              </a:ext>
            </a:extLst>
          </p:cNvPr>
          <p:cNvSpPr/>
          <p:nvPr/>
        </p:nvSpPr>
        <p:spPr>
          <a:xfrm>
            <a:off x="4423955" y="3553497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5DB9BA5B-0A41-57C3-B58A-7B6CDC0DD408}"/>
              </a:ext>
            </a:extLst>
          </p:cNvPr>
          <p:cNvSpPr/>
          <p:nvPr/>
        </p:nvSpPr>
        <p:spPr>
          <a:xfrm>
            <a:off x="4554583" y="4919038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048C8105-FD55-6EFC-99B7-E51700D0299E}"/>
              </a:ext>
            </a:extLst>
          </p:cNvPr>
          <p:cNvSpPr/>
          <p:nvPr/>
        </p:nvSpPr>
        <p:spPr>
          <a:xfrm>
            <a:off x="10938143" y="5753819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4534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CFDF63-543D-8CD6-3F0E-0366461F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3" y="631681"/>
            <a:ext cx="12135474" cy="55946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F7A3AC-DE8C-CE8D-016E-E374EFDCD830}"/>
              </a:ext>
            </a:extLst>
          </p:cNvPr>
          <p:cNvSpPr txBox="1"/>
          <p:nvPr/>
        </p:nvSpPr>
        <p:spPr>
          <a:xfrm>
            <a:off x="393987" y="0"/>
            <a:ext cx="11404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Power BI – Download Raw Data from Report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D4B74505-A2F1-9343-466E-7D60DDEDDC2C}"/>
              </a:ext>
            </a:extLst>
          </p:cNvPr>
          <p:cNvSpPr/>
          <p:nvPr/>
        </p:nvSpPr>
        <p:spPr>
          <a:xfrm>
            <a:off x="8360230" y="1757575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6C6A1F15-2702-EDEE-7E3C-634DB8707039}"/>
              </a:ext>
            </a:extLst>
          </p:cNvPr>
          <p:cNvSpPr/>
          <p:nvPr/>
        </p:nvSpPr>
        <p:spPr>
          <a:xfrm>
            <a:off x="10026940" y="3244736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62507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6FB021-73BA-2384-E9B2-6B5D05BAA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88" y="679308"/>
            <a:ext cx="11170224" cy="5499383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98381593-D6F0-E9D4-3043-54C62A24D77F}"/>
              </a:ext>
            </a:extLst>
          </p:cNvPr>
          <p:cNvSpPr/>
          <p:nvPr/>
        </p:nvSpPr>
        <p:spPr>
          <a:xfrm>
            <a:off x="2422344" y="2347776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2268877-1C35-6234-DF5E-713FD2734788}"/>
              </a:ext>
            </a:extLst>
          </p:cNvPr>
          <p:cNvSpPr/>
          <p:nvPr/>
        </p:nvSpPr>
        <p:spPr>
          <a:xfrm>
            <a:off x="3231969" y="3614601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97487E8-63B5-5F4D-2991-7FB642234CBF}"/>
              </a:ext>
            </a:extLst>
          </p:cNvPr>
          <p:cNvSpPr/>
          <p:nvPr/>
        </p:nvSpPr>
        <p:spPr>
          <a:xfrm>
            <a:off x="3231969" y="4976676"/>
            <a:ext cx="400594" cy="38317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114470-E908-585E-F44D-F0F6C749187F}"/>
              </a:ext>
            </a:extLst>
          </p:cNvPr>
          <p:cNvSpPr txBox="1"/>
          <p:nvPr/>
        </p:nvSpPr>
        <p:spPr>
          <a:xfrm>
            <a:off x="510887" y="122443"/>
            <a:ext cx="8753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Power BI – Adding Search Feature to Reporting Filters</a:t>
            </a:r>
          </a:p>
        </p:txBody>
      </p:sp>
    </p:spTree>
    <p:extLst>
      <p:ext uri="{BB962C8B-B14F-4D97-AF65-F5344CB8AC3E}">
        <p14:creationId xmlns:p14="http://schemas.microsoft.com/office/powerpoint/2010/main" val="2960521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1B2A4-C88E-E2C1-062C-456F30FB0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 to SCM Power Bi Reports and 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A9B0E-D1F3-99F5-118D-EF5642FAA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SCM Power Bi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A79A4-C558-2A5E-7914-7687171928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YTD SCM Report</a:t>
            </a:r>
            <a:endParaRPr lang="en-US"/>
          </a:p>
          <a:p>
            <a:r>
              <a:rPr lang="en-US">
                <a:hlinkClick r:id="rId3"/>
              </a:rPr>
              <a:t>Weekly SCM Report</a:t>
            </a:r>
            <a:endParaRPr lang="en-US"/>
          </a:p>
          <a:p>
            <a:r>
              <a:rPr lang="en-US">
                <a:hlinkClick r:id="rId4"/>
              </a:rPr>
              <a:t>Weekly Dashboard</a:t>
            </a:r>
            <a:endParaRPr lang="en-US"/>
          </a:p>
          <a:p>
            <a:r>
              <a:rPr lang="en-US">
                <a:hlinkClick r:id="rId5"/>
              </a:rPr>
              <a:t>Labor Dashboard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9252CD-B36B-C96F-CF0E-3D54BC57C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SCM Power Bi 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05AFCC-45F1-2AE0-7A9E-188A09865B1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PVE1 (Planview via </a:t>
            </a:r>
            <a:r>
              <a:rPr lang="en-US" err="1"/>
              <a:t>oData</a:t>
            </a:r>
            <a:r>
              <a:rPr lang="en-US"/>
              <a:t>)</a:t>
            </a:r>
          </a:p>
          <a:p>
            <a:r>
              <a:rPr lang="en-US"/>
              <a:t>SCM Weekly XLS</a:t>
            </a:r>
          </a:p>
          <a:p>
            <a:r>
              <a:rPr lang="en-US"/>
              <a:t>SCM YTD XLS</a:t>
            </a:r>
          </a:p>
        </p:txBody>
      </p:sp>
    </p:spTree>
    <p:extLst>
      <p:ext uri="{BB962C8B-B14F-4D97-AF65-F5344CB8AC3E}">
        <p14:creationId xmlns:p14="http://schemas.microsoft.com/office/powerpoint/2010/main" val="308456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C75C-3F81-0353-AC10-C19FD7620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SCM Weekly Power Bi Tabs (SCM Weekly XLS)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4D522-D336-4AE2-D1A6-3AF96149F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>
                <a:hlinkClick r:id="rId2"/>
              </a:rPr>
              <a:t>Main</a:t>
            </a:r>
            <a:r>
              <a:rPr lang="en-US"/>
              <a:t> – Pivot that matches the data in the XLS. View by work effort </a:t>
            </a:r>
            <a:r>
              <a:rPr lang="en-US" err="1"/>
              <a:t>disb</a:t>
            </a:r>
            <a:r>
              <a:rPr lang="en-US"/>
              <a:t> code, work effort name and charge amount.</a:t>
            </a:r>
          </a:p>
          <a:p>
            <a:r>
              <a:rPr lang="en-US">
                <a:hlinkClick r:id="rId3"/>
              </a:rPr>
              <a:t>Summary</a:t>
            </a:r>
            <a:r>
              <a:rPr lang="en-US"/>
              <a:t> – Summary of the detail data (not broken down by resource). Same view in the </a:t>
            </a:r>
            <a:r>
              <a:rPr lang="en-US" err="1"/>
              <a:t>xls</a:t>
            </a:r>
            <a:r>
              <a:rPr lang="en-US"/>
              <a:t>.</a:t>
            </a:r>
          </a:p>
          <a:p>
            <a:r>
              <a:rPr lang="en-US">
                <a:hlinkClick r:id="rId4"/>
              </a:rPr>
              <a:t>Details</a:t>
            </a:r>
            <a:r>
              <a:rPr lang="en-US"/>
              <a:t> – Detailed view by resource each week of data that the resource is actively booking to. Same view in the </a:t>
            </a:r>
            <a:r>
              <a:rPr lang="en-US" err="1"/>
              <a:t>xls</a:t>
            </a:r>
            <a:r>
              <a:rPr lang="en-US"/>
              <a:t>.</a:t>
            </a:r>
          </a:p>
          <a:p>
            <a:r>
              <a:rPr lang="en-US">
                <a:hlinkClick r:id="rId5"/>
              </a:rPr>
              <a:t>Details Errors </a:t>
            </a:r>
            <a:r>
              <a:rPr lang="en-US"/>
              <a:t>– Shows where </a:t>
            </a:r>
            <a:r>
              <a:rPr lang="en-US" err="1"/>
              <a:t>disb</a:t>
            </a:r>
            <a:r>
              <a:rPr lang="en-US"/>
              <a:t> code are not aligned to an active strategy. Same view in the </a:t>
            </a:r>
            <a:r>
              <a:rPr lang="en-US" err="1"/>
              <a:t>xls</a:t>
            </a:r>
            <a:r>
              <a:rPr lang="en-US"/>
              <a:t>.</a:t>
            </a:r>
          </a:p>
          <a:p>
            <a:r>
              <a:rPr lang="en-US">
                <a:hlinkClick r:id="rId6"/>
              </a:rPr>
              <a:t>OOOTrng</a:t>
            </a:r>
            <a:r>
              <a:rPr lang="en-US"/>
              <a:t> – This shows where resources have booked out of office time and training.</a:t>
            </a:r>
          </a:p>
          <a:p>
            <a:r>
              <a:rPr lang="en-US">
                <a:hlinkClick r:id="rId7"/>
              </a:rPr>
              <a:t>Missing Charge Code </a:t>
            </a:r>
            <a:r>
              <a:rPr lang="en-US"/>
              <a:t>– Visual of work effort ID’s that do not have an active disbursement code aligned to it. (</a:t>
            </a:r>
            <a:r>
              <a:rPr lang="en-US" err="1"/>
              <a:t>oData</a:t>
            </a:r>
            <a:r>
              <a:rPr lang="en-US"/>
              <a:t> used to grab associated contacts)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79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D7A7-54E4-BBDA-6E63-0F5AB460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SCM YTD Power BI Tabs (SCM YTD XLS)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B8A8-B51A-F423-71FA-3384D721A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Main Pivot </a:t>
            </a:r>
            <a:r>
              <a:rPr lang="en-US"/>
              <a:t>– Pivot by work effort </a:t>
            </a:r>
            <a:r>
              <a:rPr lang="en-US" err="1"/>
              <a:t>disb</a:t>
            </a:r>
            <a:r>
              <a:rPr lang="en-US"/>
              <a:t> code and work effort charge amount. Same as XLS.</a:t>
            </a:r>
          </a:p>
          <a:p>
            <a:r>
              <a:rPr lang="en-US">
                <a:hlinkClick r:id="rId3"/>
              </a:rPr>
              <a:t>Details</a:t>
            </a:r>
            <a:r>
              <a:rPr lang="en-US"/>
              <a:t> – Detailed view of where resource has booked each week YTD. Same as XLS.</a:t>
            </a:r>
          </a:p>
          <a:p>
            <a:r>
              <a:rPr lang="en-US">
                <a:hlinkClick r:id="rId4"/>
              </a:rPr>
              <a:t>Details Errors </a:t>
            </a:r>
            <a:r>
              <a:rPr lang="en-US"/>
              <a:t>– Shows where </a:t>
            </a:r>
            <a:r>
              <a:rPr lang="en-US" err="1"/>
              <a:t>disb</a:t>
            </a:r>
            <a:r>
              <a:rPr lang="en-US"/>
              <a:t> code are not aligned to an active strategy from YTD view. Same view in the </a:t>
            </a:r>
            <a:r>
              <a:rPr lang="en-US" err="1"/>
              <a:t>xls</a:t>
            </a:r>
            <a:r>
              <a:rPr lang="en-US"/>
              <a:t>.</a:t>
            </a:r>
          </a:p>
          <a:p>
            <a:r>
              <a:rPr lang="en-US">
                <a:hlinkClick r:id="rId5"/>
              </a:rPr>
              <a:t>OOOTrng</a:t>
            </a:r>
            <a:r>
              <a:rPr lang="en-US"/>
              <a:t> – This shows where resources have booked out of office time and training from YTD view.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84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654F7140-90DD-F1F3-C324-4DE58407C02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3032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4F7140-90DD-F1F3-C324-4DE58407C0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1FFD7A7-54E4-BBDA-6E63-0F5AB460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SCM YTD Power BI Tabs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B8A8-B51A-F423-71FA-3384D721A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382"/>
            <a:ext cx="10762735" cy="1325563"/>
          </a:xfrm>
        </p:spPr>
        <p:txBody>
          <a:bodyPr>
            <a:normAutofit/>
          </a:bodyPr>
          <a:lstStyle/>
          <a:p>
            <a:r>
              <a:rPr lang="en-US">
                <a:hlinkClick r:id="rId5"/>
              </a:rPr>
              <a:t>Labor Expense </a:t>
            </a:r>
            <a:r>
              <a:rPr lang="en-US"/>
              <a:t>– Standard cost labor expense by disbursement code and by resource office/BSA for selected BSA.  Filters include financial resource type, run/build and date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9" name="Picture 8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5F8BA27-EFA3-020C-74E9-E49FC22A5D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427" y="2991356"/>
            <a:ext cx="6251145" cy="35015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66EC75-C36A-D0AF-E61B-693B41CFF59D}"/>
              </a:ext>
            </a:extLst>
          </p:cNvPr>
          <p:cNvSpPr txBox="1"/>
          <p:nvPr/>
        </p:nvSpPr>
        <p:spPr>
          <a:xfrm>
            <a:off x="444805" y="2991356"/>
            <a:ext cx="1248033" cy="13849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Select BSA where labor expense hits.</a:t>
            </a:r>
          </a:p>
          <a:p>
            <a:r>
              <a:rPr lang="en-US" sz="1400"/>
              <a:t>Select resource type and Run/Build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9B8CD3-F67F-79D2-A230-8F8A489824E4}"/>
              </a:ext>
            </a:extLst>
          </p:cNvPr>
          <p:cNvCxnSpPr>
            <a:cxnSpLocks/>
          </p:cNvCxnSpPr>
          <p:nvPr/>
        </p:nvCxnSpPr>
        <p:spPr>
          <a:xfrm>
            <a:off x="1692838" y="3286426"/>
            <a:ext cx="1124503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BDD7343-84DC-D984-F569-C81C4EEB1551}"/>
              </a:ext>
            </a:extLst>
          </p:cNvPr>
          <p:cNvSpPr txBox="1"/>
          <p:nvPr/>
        </p:nvSpPr>
        <p:spPr>
          <a:xfrm>
            <a:off x="10105767" y="4617120"/>
            <a:ext cx="1248033" cy="9541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Total Labor Expense should match financials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B8B04F-16C3-1738-7184-91EF98D25529}"/>
              </a:ext>
            </a:extLst>
          </p:cNvPr>
          <p:cNvCxnSpPr>
            <a:cxnSpLocks/>
          </p:cNvCxnSpPr>
          <p:nvPr/>
        </p:nvCxnSpPr>
        <p:spPr>
          <a:xfrm flipH="1">
            <a:off x="9292319" y="4971063"/>
            <a:ext cx="813448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971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D7A7-54E4-BBDA-6E63-0F5AB460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SCM YTD Power BI Tabs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B8A8-B51A-F423-71FA-3384D721A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384"/>
            <a:ext cx="10515600" cy="4628579"/>
          </a:xfrm>
        </p:spPr>
        <p:txBody>
          <a:bodyPr>
            <a:normAutofit/>
          </a:bodyPr>
          <a:lstStyle/>
          <a:p>
            <a:r>
              <a:rPr lang="en-US">
                <a:hlinkClick r:id="rId2"/>
              </a:rPr>
              <a:t>Labor by Team (1) </a:t>
            </a:r>
            <a:r>
              <a:rPr lang="en-US"/>
              <a:t>– Standard cost labor expense by team, including details by disbursement code; Filters include disbursement code, resource type and Run/Build</a:t>
            </a:r>
          </a:p>
          <a:p>
            <a:pPr marL="0" indent="0">
              <a:buNone/>
            </a:pPr>
            <a:endParaRPr lang="en-US"/>
          </a:p>
          <a:p>
            <a:r>
              <a:rPr lang="en-US">
                <a:hlinkClick r:id="rId3"/>
              </a:rPr>
              <a:t>Labor by Team (2) </a:t>
            </a:r>
            <a:r>
              <a:rPr lang="en-US"/>
              <a:t>– Shows which team(s) are charging to a selected disbursement code and work item</a:t>
            </a:r>
          </a:p>
          <a:p>
            <a:pPr lvl="1"/>
            <a:r>
              <a:rPr lang="en-US"/>
              <a:t>Tip 1: Click on plus sign in bottom table to drill into work items within a disbursement code </a:t>
            </a:r>
          </a:p>
          <a:p>
            <a:pPr lvl="1"/>
            <a:r>
              <a:rPr lang="en-US"/>
              <a:t>Tip 2: Click on a number in the Total column in the bottom table to see the teams working on that code or work item in the top table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12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D7A7-54E4-BBDA-6E63-0F5AB460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SCM YTD Power BI Tabs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B8A8-B51A-F423-71FA-3384D721A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384"/>
            <a:ext cx="10515600" cy="4628579"/>
          </a:xfrm>
        </p:spPr>
        <p:txBody>
          <a:bodyPr>
            <a:normAutofit/>
          </a:bodyPr>
          <a:lstStyle/>
          <a:p>
            <a:r>
              <a:rPr lang="en-US">
                <a:hlinkClick r:id="rId2"/>
              </a:rPr>
              <a:t>Recovery (STD Cost Credit)</a:t>
            </a:r>
            <a:r>
              <a:rPr lang="en-US"/>
              <a:t> – Shows where resources for a selected BSA/Planning Unit charged their time, including Run/Build detail </a:t>
            </a:r>
          </a:p>
          <a:p>
            <a:endParaRPr lang="en-US"/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BD02C14-23F3-470E-4308-4D7513CAE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074" y="2583025"/>
            <a:ext cx="8603726" cy="1737511"/>
          </a:xfrm>
          <a:prstGeom prst="rect">
            <a:avLst/>
          </a:prstGeom>
        </p:spPr>
      </p:pic>
      <p:pic>
        <p:nvPicPr>
          <p:cNvPr id="1025" name="Picture 1" descr="Recovery by Work Effort Office/BSA">
            <a:extLst>
              <a:ext uri="{FF2B5EF4-FFF2-40B4-BE49-F238E27FC236}">
                <a16:creationId xmlns:a16="http://schemas.microsoft.com/office/drawing/2014/main" id="{6809732F-A79C-5866-D4A5-061E235C6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074" y="4320536"/>
            <a:ext cx="10002214" cy="244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EB25BD-B131-BF77-7710-E9CDA06635C9}"/>
              </a:ext>
            </a:extLst>
          </p:cNvPr>
          <p:cNvSpPr txBox="1"/>
          <p:nvPr/>
        </p:nvSpPr>
        <p:spPr>
          <a:xfrm>
            <a:off x="284167" y="3866757"/>
            <a:ext cx="1248033" cy="13849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Click on plus sign to drill into BSA where resources are charging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8A9F692-B2B7-93A3-24BC-272E227AC3F3}"/>
              </a:ext>
            </a:extLst>
          </p:cNvPr>
          <p:cNvCxnSpPr>
            <a:cxnSpLocks/>
          </p:cNvCxnSpPr>
          <p:nvPr/>
        </p:nvCxnSpPr>
        <p:spPr>
          <a:xfrm>
            <a:off x="1532200" y="4015946"/>
            <a:ext cx="523874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7669133-606C-6CBA-A39C-E3C08BBBD7D0}"/>
              </a:ext>
            </a:extLst>
          </p:cNvPr>
          <p:cNvSpPr txBox="1"/>
          <p:nvPr/>
        </p:nvSpPr>
        <p:spPr>
          <a:xfrm>
            <a:off x="284167" y="2571105"/>
            <a:ext cx="1248033" cy="73866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Select BSA where resources sit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3121FD-82A6-F3F1-7369-ACE4270C7633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532200" y="2940437"/>
            <a:ext cx="471487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205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D7A7-54E4-BBDA-6E63-0F5AB460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SCM YTD Power BI Tabs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B8A8-B51A-F423-71FA-3384D721A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385"/>
            <a:ext cx="10515600" cy="1325564"/>
          </a:xfrm>
        </p:spPr>
        <p:txBody>
          <a:bodyPr>
            <a:normAutofit/>
          </a:bodyPr>
          <a:lstStyle/>
          <a:p>
            <a:r>
              <a:rPr lang="en-US">
                <a:hlinkClick r:id="rId2"/>
              </a:rPr>
              <a:t>Resource</a:t>
            </a:r>
            <a:r>
              <a:rPr lang="en-US"/>
              <a:t> – Select a resource by name or NWIE ID to see which team, disbursement code(s) and work items that resource has been working on, as well as resource type and trans class 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918A94C-1367-E44C-3BAB-CE21B010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293" y="2873948"/>
            <a:ext cx="8931414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96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D7A7-54E4-BBDA-6E63-0F5AB460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SCM YTD Power BI Tabs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B8A8-B51A-F423-71FA-3384D721A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384"/>
            <a:ext cx="10515600" cy="4628579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hlinkClick r:id="rId2"/>
              </a:rPr>
              <a:t>Labor Expense </a:t>
            </a:r>
            <a:r>
              <a:rPr lang="en-US"/>
              <a:t>– Standard cost labor expense by disbursement code and by resource office/BSA for selected BSA.  Filters include financial resource type, run/build and date</a:t>
            </a:r>
          </a:p>
          <a:p>
            <a:r>
              <a:rPr lang="en-US">
                <a:hlinkClick r:id="rId3"/>
              </a:rPr>
              <a:t>Labor by Team (1) </a:t>
            </a:r>
            <a:r>
              <a:rPr lang="en-US"/>
              <a:t>- Standard cost labor expense by team, including details by disbursement code; Filters include disbursement code, resource type and Run/Build</a:t>
            </a:r>
          </a:p>
          <a:p>
            <a:r>
              <a:rPr lang="en-US">
                <a:hlinkClick r:id="rId4"/>
              </a:rPr>
              <a:t>Labor by Team (2) </a:t>
            </a:r>
            <a:r>
              <a:rPr lang="en-US"/>
              <a:t>- Shows which team(s) are charging to a selected disbursement code and work item</a:t>
            </a:r>
          </a:p>
          <a:p>
            <a:r>
              <a:rPr lang="en-US">
                <a:hlinkClick r:id="rId5"/>
              </a:rPr>
              <a:t>Recovery (STD Cost Credit)</a:t>
            </a:r>
            <a:r>
              <a:rPr lang="en-US"/>
              <a:t> – Shows where resources for a selected BSA/Planning Unit charged their time, including Run/Build detail </a:t>
            </a:r>
          </a:p>
          <a:p>
            <a:r>
              <a:rPr lang="en-US">
                <a:hlinkClick r:id="rId6"/>
              </a:rPr>
              <a:t>Resource</a:t>
            </a:r>
            <a:r>
              <a:rPr lang="en-US"/>
              <a:t> – Shows team, disbursement codes charged and work items for a selected resource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04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49DA5-789B-E99B-5BED-0F7AA7BE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Contact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03C9B-11C2-2D7C-9FCE-76F1C3963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Emanuel Fuller</a:t>
            </a:r>
            <a:endParaRPr lang="en-US"/>
          </a:p>
          <a:p>
            <a:r>
              <a:rPr lang="en-US">
                <a:hlinkClick r:id="rId3"/>
              </a:rPr>
              <a:t>Chris Brown-Grant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282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5e4e13-0bb4-4978-9b5d-35643535215f">
      <Terms xmlns="http://schemas.microsoft.com/office/infopath/2007/PartnerControls"/>
    </lcf76f155ced4ddcb4097134ff3c332f>
    <TaxCatchAll xmlns="3bb39826-b95b-49f1-8070-5485033524c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B07590BC9D1B468E0EA81BC5944E23" ma:contentTypeVersion="17" ma:contentTypeDescription="Create a new document." ma:contentTypeScope="" ma:versionID="4e11c403a95ed1cd7a7d852a43df18d1">
  <xsd:schema xmlns:xsd="http://www.w3.org/2001/XMLSchema" xmlns:xs="http://www.w3.org/2001/XMLSchema" xmlns:p="http://schemas.microsoft.com/office/2006/metadata/properties" xmlns:ns2="345e4e13-0bb4-4978-9b5d-35643535215f" xmlns:ns3="3bb39826-b95b-49f1-8070-5485033524cd" targetNamespace="http://schemas.microsoft.com/office/2006/metadata/properties" ma:root="true" ma:fieldsID="684197ed99355496e67c1b46c48c43da" ns2:_="" ns3:_="">
    <xsd:import namespace="345e4e13-0bb4-4978-9b5d-35643535215f"/>
    <xsd:import namespace="3bb39826-b95b-49f1-8070-5485033524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5e4e13-0bb4-4978-9b5d-3564353521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6db0a7d3-0568-4cb5-b861-555e3d3115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b39826-b95b-49f1-8070-5485033524c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c734264-7afe-47f5-901a-e15fac4f6c5a}" ma:internalName="TaxCatchAll" ma:showField="CatchAllData" ma:web="3bb39826-b95b-49f1-8070-5485033524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5A6716-C03A-48AC-9E49-0EA9054127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B17505-B54D-4FBE-AAA5-45A6E07FFA3A}">
  <ds:schemaRefs>
    <ds:schemaRef ds:uri="http://purl.org/dc/elements/1.1/"/>
    <ds:schemaRef ds:uri="http://www.w3.org/XML/1998/namespace"/>
    <ds:schemaRef ds:uri="http://schemas.openxmlformats.org/package/2006/metadata/core-properties"/>
    <ds:schemaRef ds:uri="3bb39826-b95b-49f1-8070-5485033524cd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345e4e13-0bb4-4978-9b5d-35643535215f"/>
  </ds:schemaRefs>
</ds:datastoreItem>
</file>

<file path=customXml/itemProps3.xml><?xml version="1.0" encoding="utf-8"?>
<ds:datastoreItem xmlns:ds="http://schemas.openxmlformats.org/officeDocument/2006/customXml" ds:itemID="{7CB23040-A10D-46FE-BDC2-55223E9D19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5e4e13-0bb4-4978-9b5d-35643535215f"/>
    <ds:schemaRef ds:uri="3bb39826-b95b-49f1-8070-5485033524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think-cell Slide</vt:lpstr>
      <vt:lpstr>Table of Contents</vt:lpstr>
      <vt:lpstr>PowerPoint Presentation</vt:lpstr>
      <vt:lpstr>PowerPoint Presentation</vt:lpstr>
      <vt:lpstr>PowerPoint Presentation</vt:lpstr>
      <vt:lpstr>PowerPoint Presentation</vt:lpstr>
      <vt:lpstr>Link to SCM Power Bi Reports and Sources</vt:lpstr>
      <vt:lpstr>SCM Weekly Power Bi Tabs (SCM Weekly XLS)</vt:lpstr>
      <vt:lpstr>SCM YTD Power BI Tabs (SCM YTD XLS)</vt:lpstr>
      <vt:lpstr>SCM YTD Power BI Tabs (Continued)</vt:lpstr>
      <vt:lpstr>SCM YTD Power BI Tabs (Continued)</vt:lpstr>
      <vt:lpstr>SCM YTD Power BI Tabs (Continued)</vt:lpstr>
      <vt:lpstr>SCM YTD Power BI Tabs (Continued)</vt:lpstr>
      <vt:lpstr>SCM YTD Power BI Tabs (Continued)</vt:lpstr>
      <vt:lpstr>Contact Us</vt:lpstr>
    </vt:vector>
  </TitlesOfParts>
  <Company>Nationwide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Brown-Grant, Chris</dc:creator>
  <cp:lastModifiedBy>Trudeau, Cindy</cp:lastModifiedBy>
  <cp:revision>1</cp:revision>
  <cp:lastPrinted>2025-04-23T13:37:22Z</cp:lastPrinted>
  <dcterms:created xsi:type="dcterms:W3CDTF">2023-08-16T13:34:55Z</dcterms:created>
  <dcterms:modified xsi:type="dcterms:W3CDTF">2026-09-22T14:11:18Z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ea8e88-16c4-4b55-a945-7bd6248db4bf_Enabled">
    <vt:lpwstr>true</vt:lpwstr>
  </property>
  <property fmtid="{D5CDD505-2E9C-101B-9397-08002B2CF9AE}" pid="3" name="MSIP_Label_92ea8e88-16c4-4b55-a945-7bd6248db4bf_SetDate">
    <vt:lpwstr>2023-08-16T13:34:55Z</vt:lpwstr>
  </property>
  <property fmtid="{D5CDD505-2E9C-101B-9397-08002B2CF9AE}" pid="4" name="MSIP_Label_92ea8e88-16c4-4b55-a945-7bd6248db4bf_Method">
    <vt:lpwstr>Standard</vt:lpwstr>
  </property>
  <property fmtid="{D5CDD505-2E9C-101B-9397-08002B2CF9AE}" pid="5" name="MSIP_Label_92ea8e88-16c4-4b55-a945-7bd6248db4bf_Name">
    <vt:lpwstr>Internal</vt:lpwstr>
  </property>
  <property fmtid="{D5CDD505-2E9C-101B-9397-08002B2CF9AE}" pid="6" name="MSIP_Label_92ea8e88-16c4-4b55-a945-7bd6248db4bf_SiteId">
    <vt:lpwstr>22140e4c-d390-45c2-b297-a26c516dc461</vt:lpwstr>
  </property>
  <property fmtid="{D5CDD505-2E9C-101B-9397-08002B2CF9AE}" pid="7" name="MSIP_Label_92ea8e88-16c4-4b55-a945-7bd6248db4bf_ActionId">
    <vt:lpwstr>7fe9b56d-fb19-4861-af48-41d30245706b</vt:lpwstr>
  </property>
  <property fmtid="{D5CDD505-2E9C-101B-9397-08002B2CF9AE}" pid="8" name="MSIP_Label_92ea8e88-16c4-4b55-a945-7bd6248db4bf_ContentBits">
    <vt:lpwstr>0</vt:lpwstr>
  </property>
  <property fmtid="{D5CDD505-2E9C-101B-9397-08002B2CF9AE}" pid="9" name="ContentTypeId">
    <vt:lpwstr>0x010100EAB07590BC9D1B468E0EA81BC5944E23</vt:lpwstr>
  </property>
  <property fmtid="{D5CDD505-2E9C-101B-9397-08002B2CF9AE}" pid="10" name="MediaServiceImageTags">
    <vt:lpwstr/>
  </property>
</Properties>
</file>